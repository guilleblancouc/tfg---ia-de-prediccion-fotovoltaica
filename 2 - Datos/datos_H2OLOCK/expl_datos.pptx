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</p:sldMasterIdLst>
  <p:notesMasterIdLst>
    <p:notesMasterId r:id="rId21"/>
  </p:notesMasterIdLst>
  <p:handoutMasterIdLst>
    <p:handoutMasterId r:id="rId22"/>
  </p:handoutMasterIdLst>
  <p:sldIdLst>
    <p:sldId id="928" r:id="rId5"/>
    <p:sldId id="929" r:id="rId6"/>
    <p:sldId id="930" r:id="rId7"/>
    <p:sldId id="932" r:id="rId8"/>
    <p:sldId id="931" r:id="rId9"/>
    <p:sldId id="933" r:id="rId10"/>
    <p:sldId id="945" r:id="rId11"/>
    <p:sldId id="938" r:id="rId12"/>
    <p:sldId id="934" r:id="rId13"/>
    <p:sldId id="940" r:id="rId14"/>
    <p:sldId id="941" r:id="rId15"/>
    <p:sldId id="942" r:id="rId16"/>
    <p:sldId id="943" r:id="rId17"/>
    <p:sldId id="948" r:id="rId18"/>
    <p:sldId id="944" r:id="rId19"/>
    <p:sldId id="947" r:id="rId20"/>
  </p:sldIdLst>
  <p:sldSz cx="9906000" cy="6858000" type="A4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atriz SanCristóbal Marcano" initials="BSM" lastIdx="9" clrIdx="0">
    <p:extLst>
      <p:ext uri="{19B8F6BF-5375-455C-9EA6-DF929625EA0E}">
        <p15:presenceInfo xmlns:p15="http://schemas.microsoft.com/office/powerpoint/2012/main" userId="S-1-5-21-1315827265-1715955068-1002082857-11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DA2"/>
    <a:srgbClr val="2C2766"/>
    <a:srgbClr val="373739"/>
    <a:srgbClr val="1F77B4"/>
    <a:srgbClr val="0000FF"/>
    <a:srgbClr val="3274A1"/>
    <a:srgbClr val="FFE900"/>
    <a:srgbClr val="FFFFCC"/>
    <a:srgbClr val="000000"/>
    <a:srgbClr val="349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69784" autoAdjust="0"/>
  </p:normalViewPr>
  <p:slideViewPr>
    <p:cSldViewPr snapToGrid="0">
      <p:cViewPr varScale="1">
        <p:scale>
          <a:sx n="74" d="100"/>
          <a:sy n="74" d="100"/>
        </p:scale>
        <p:origin x="205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Pérez Nuñez" userId="96a74e95-4c4a-4f3d-b31b-f8c152b0bc07" providerId="ADAL" clId="{55BCB9F9-7FC4-4CFA-8BBF-1A51D34C5EEA}"/>
    <pc:docChg chg="delSld modSld delMainMaster">
      <pc:chgData name="Alejandro Pérez Nuñez" userId="96a74e95-4c4a-4f3d-b31b-f8c152b0bc07" providerId="ADAL" clId="{55BCB9F9-7FC4-4CFA-8BBF-1A51D34C5EEA}" dt="2025-10-24T10:51:24.690" v="2" actId="47"/>
      <pc:docMkLst>
        <pc:docMk/>
      </pc:docMkLst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3650124661" sldId="49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5159682" sldId="50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3305855998" sldId="518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2825416254" sldId="92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1580330582" sldId="924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1795923277" sldId="925"/>
        </pc:sldMkLst>
      </pc:sldChg>
      <pc:sldChg chg="del modAnim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4131416460" sldId="926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2009781594" sldId="927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804090832" sldId="935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188238270" sldId="936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850596513" sldId="937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4174270971" sldId="939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497843085" sldId="946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213637091" sldId="949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452350363" sldId="950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909108852" sldId="951"/>
        </pc:sldMkLst>
      </pc:sldChg>
      <pc:sldMasterChg chg="del delSldLayout">
        <pc:chgData name="Alejandro Pérez Nuñez" userId="96a74e95-4c4a-4f3d-b31b-f8c152b0bc07" providerId="ADAL" clId="{55BCB9F9-7FC4-4CFA-8BBF-1A51D34C5EEA}" dt="2025-10-24T10:51:03.506" v="1" actId="47"/>
        <pc:sldMasterMkLst>
          <pc:docMk/>
          <pc:sldMasterMk cId="2437953641" sldId="2147483696"/>
        </pc:sldMasterMkLst>
        <pc:sldLayoutChg chg="del">
          <pc:chgData name="Alejandro Pérez Nuñez" userId="96a74e95-4c4a-4f3d-b31b-f8c152b0bc07" providerId="ADAL" clId="{55BCB9F9-7FC4-4CFA-8BBF-1A51D34C5EEA}" dt="2025-10-24T10:51:03.506" v="1" actId="47"/>
          <pc:sldLayoutMkLst>
            <pc:docMk/>
            <pc:sldMasterMk cId="2437953641" sldId="2147483696"/>
            <pc:sldLayoutMk cId="2135706678" sldId="2147483708"/>
          </pc:sldLayoutMkLst>
        </pc:sldLayoutChg>
      </pc:sldMasterChg>
      <pc:sldMasterChg chg="delSldLayout">
        <pc:chgData name="Alejandro Pérez Nuñez" userId="96a74e95-4c4a-4f3d-b31b-f8c152b0bc07" providerId="ADAL" clId="{55BCB9F9-7FC4-4CFA-8BBF-1A51D34C5EEA}" dt="2025-10-24T10:51:24.690" v="2" actId="47"/>
        <pc:sldMasterMkLst>
          <pc:docMk/>
          <pc:sldMasterMk cId="3951769873" sldId="2147483709"/>
        </pc:sldMasterMkLst>
        <pc:sldLayoutChg chg="del">
          <pc:chgData name="Alejandro Pérez Nuñez" userId="96a74e95-4c4a-4f3d-b31b-f8c152b0bc07" providerId="ADAL" clId="{55BCB9F9-7FC4-4CFA-8BBF-1A51D34C5EEA}" dt="2025-10-24T10:51:24.690" v="2" actId="47"/>
          <pc:sldLayoutMkLst>
            <pc:docMk/>
            <pc:sldMasterMk cId="3951769873" sldId="2147483709"/>
            <pc:sldLayoutMk cId="873607650" sldId="214748371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CA61E44-942F-8AE3-46D1-61BA8D4098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2C9D19-5499-AA1D-48DE-95D6744976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C3E5-9D8D-4C0D-A21D-6C5BDC7F5239}" type="datetimeFigureOut">
              <a:rPr lang="es-ES" smtClean="0"/>
              <a:t>24/10/2025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64A5FB-7D2D-6695-D186-148171AB48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A710BF-700D-1B5D-A152-AC4BE652C5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DF4A5-54EF-43A7-8C40-F506D093BD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9986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3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CA488-DD97-4B09-94E8-D0D90D355F4D}" type="datetimeFigureOut">
              <a:rPr lang="es-ES" smtClean="0"/>
              <a:t>24/10/2025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39838"/>
            <a:ext cx="4840287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1228F-7AEC-4F59-8C3A-12E2A2446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8210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028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LIFE H2OLOCK project is a Horizon Europe initiative under the LIFE program, with a strong focus on sustainability. </a:t>
            </a:r>
          </a:p>
          <a:p>
            <a:r>
              <a:rPr lang="en-US" dirty="0"/>
              <a:t>Our consortium consists of six diverse partners, working together with nearly €2 million and a three-year timeline to tackle a significant challenge. </a:t>
            </a:r>
          </a:p>
          <a:p>
            <a:endParaRPr lang="en-US" dirty="0"/>
          </a:p>
          <a:p>
            <a:r>
              <a:rPr lang="en-US" dirty="0"/>
              <a:t>The project aims to achieve up to 80-85% control over water evaporation, </a:t>
            </a:r>
          </a:p>
          <a:p>
            <a:r>
              <a:rPr lang="en-US" dirty="0"/>
              <a:t>suppress algae growth without the use of algaecides </a:t>
            </a:r>
          </a:p>
          <a:p>
            <a:r>
              <a:rPr lang="en-US" dirty="0"/>
              <a:t>and generate renewable energy for irrigation large agricultural reservoirs.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FB6EE7-FAA4-8447-52A9-58E7333F93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0778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photovoltaic floating power plant is therefore a key component of our demonstrator site in Lorca, Murcia.</a:t>
            </a:r>
          </a:p>
          <a:p>
            <a:endParaRPr lang="en-US" dirty="0"/>
          </a:p>
          <a:p>
            <a:r>
              <a:rPr lang="en-US" dirty="0"/>
              <a:t>Here is a picture of the power plant during the early stages of the Lorca demonstration installation. 27 pike </a:t>
            </a:r>
            <a:r>
              <a:rPr lang="en-US" dirty="0" err="1"/>
              <a:t>kilowat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 the right, you can find the plant's specifications.</a:t>
            </a:r>
            <a:endParaRPr lang="es-ES" dirty="0"/>
          </a:p>
          <a:p>
            <a:endParaRPr lang="en-US" dirty="0"/>
          </a:p>
          <a:p>
            <a:r>
              <a:rPr lang="en-US" dirty="0"/>
              <a:t>Take a moment to enjoy the beautiful Murcia sunset.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951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fully covered water reservoir. What you see here is the complete deployment of thousands of individual floating modules alongside the floating power plant, </a:t>
            </a:r>
          </a:p>
          <a:p>
            <a:endParaRPr lang="en-US" dirty="0"/>
          </a:p>
          <a:p>
            <a:r>
              <a:rPr lang="en-US" dirty="0"/>
              <a:t>all installed and monitored together as one integrated system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321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Two main technologies were also proposed by CTC to complement the floating solution:</a:t>
            </a:r>
          </a:p>
          <a:p>
            <a:endParaRPr lang="en-US" b="1" dirty="0"/>
          </a:p>
          <a:p>
            <a:r>
              <a:rPr lang="en-US" b="1" dirty="0"/>
              <a:t>Accurate short-term forecasting for the demonstrator in real-time</a:t>
            </a:r>
            <a:r>
              <a:rPr lang="en-US" dirty="0"/>
              <a:t>: </a:t>
            </a:r>
          </a:p>
          <a:p>
            <a:r>
              <a:rPr lang="en-US" dirty="0"/>
              <a:t>commercial tools are primarily focused on the design phase of PV plants, are not open-source, and cannot be integrated into dashboards. </a:t>
            </a:r>
          </a:p>
          <a:p>
            <a:r>
              <a:rPr lang="en-US" dirty="0"/>
              <a:t>We need to configure our own open-source tool to be implemented within the dashboard’s operational framework.</a:t>
            </a:r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[Problem definition] To achieve an i</a:t>
            </a:r>
            <a:r>
              <a:rPr lang="en-US" b="1" dirty="0"/>
              <a:t>nformed planning and optimization of daily pumping operations</a:t>
            </a:r>
            <a:r>
              <a:rPr lang="en-US" dirty="0"/>
              <a:t>: </a:t>
            </a:r>
          </a:p>
          <a:p>
            <a:r>
              <a:rPr lang="en-US" dirty="0"/>
              <a:t>to maximize PV energy production, several pumping groups can be controlled through a PLC</a:t>
            </a:r>
          </a:p>
          <a:p>
            <a:r>
              <a:rPr lang="en-US" dirty="0"/>
              <a:t>Those pumps from the water wells up to the water pond, </a:t>
            </a:r>
          </a:p>
          <a:p>
            <a:r>
              <a:rPr lang="en-US" dirty="0"/>
              <a:t>It requires daily automated scheduling in base to a prediction of PV ‘free’ energy available.</a:t>
            </a:r>
          </a:p>
          <a:p>
            <a:r>
              <a:rPr lang="en-US" dirty="0"/>
              <a:t>This way, different pumping power levels will be activated and adjusted according to the expected daily energy production curve that has been predicted.</a:t>
            </a:r>
          </a:p>
          <a:p>
            <a:r>
              <a:rPr lang="en-US" u="sng" dirty="0"/>
              <a:t>We don’t have a prediction. Need one.</a:t>
            </a:r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9CA2E6-4287-6843-4EAE-35BDB4E846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201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06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A933-F76D-A7E4-A9D1-FA5F11DD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7052F-1F04-880C-6672-BEDBF986E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54EB53-60D4-3F0F-9DE0-8DF343E78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reviewing numerous papers, we found that this selection provides a comprehensive approach to AI applied to photovoltaic power forecasting. </a:t>
            </a:r>
          </a:p>
          <a:p>
            <a:endParaRPr lang="en-US" dirty="0"/>
          </a:p>
          <a:p>
            <a:r>
              <a:rPr lang="en-US" dirty="0"/>
              <a:t>We have included these references in this slide for further audience interest. </a:t>
            </a:r>
          </a:p>
          <a:p>
            <a:endParaRPr lang="en-US" dirty="0"/>
          </a:p>
          <a:p>
            <a:r>
              <a:rPr lang="en-US" dirty="0"/>
              <a:t>Now, we will highlight some key remarks extracted from here… next slide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D3C1D5-3803-2A3B-5811-A7DAB8A8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7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E14AF-1BD0-03F1-5C13-9E2FFCE859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187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Material design and efficiency prediction</a:t>
            </a:r>
            <a:r>
              <a:rPr lang="en-US" dirty="0"/>
              <a:t>: ML models can establish relationships between chemical structures and photovoltaic properties, enabling fast screening and the acceleration of the development process of materials and silicium based technologies.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Fault detection and diagnosis</a:t>
            </a:r>
            <a:r>
              <a:rPr lang="en-US" dirty="0"/>
              <a:t>: ML techniques are effective in detecting and diagnosing faults in </a:t>
            </a:r>
            <a:r>
              <a:rPr lang="en-US" dirty="0" err="1"/>
              <a:t>pv</a:t>
            </a:r>
            <a:r>
              <a:rPr lang="en-US" dirty="0"/>
              <a:t> systems, offering high accuracy and efficiency.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Condition monitoring</a:t>
            </a:r>
            <a:r>
              <a:rPr lang="en-US" dirty="0"/>
              <a:t>: semi-supervised ML models can perform condition monitoring by leveraging unsupervised data for feature representation and classification.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Power forecasting</a:t>
            </a:r>
            <a:r>
              <a:rPr lang="en-US" dirty="0"/>
              <a:t>: some ML models are applied to get accurate predictions and aiding in decision-making for energy management. </a:t>
            </a:r>
          </a:p>
          <a:p>
            <a:r>
              <a:rPr lang="en-US" b="1" dirty="0"/>
              <a:t>HOWEVER, these models typically rely on large and robust datasets for training, which limits their effectiveness when only early-stage data is available.</a:t>
            </a:r>
          </a:p>
          <a:p>
            <a:r>
              <a:rPr lang="en-US" b="1" dirty="0"/>
              <a:t>The novelty of this work is facing this challenge with employing a non frequently used model (the XGBOOST) and Bayesian optimization techniques.</a:t>
            </a:r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53AD8-EFBA-5D96-D6B5-80DE613A75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6291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schema represents the common framework underlying state-of-the-art developments. </a:t>
            </a:r>
          </a:p>
          <a:p>
            <a:endParaRPr lang="en-US" dirty="0"/>
          </a:p>
          <a:p>
            <a:r>
              <a:rPr lang="en-US" dirty="0"/>
              <a:t>The work presented here builds on this framework, primarily focusing on the ingestion and curation of private weather data and the development of AI-based energy forecast models. </a:t>
            </a:r>
          </a:p>
          <a:p>
            <a:endParaRPr lang="en-US" dirty="0"/>
          </a:p>
          <a:p>
            <a:r>
              <a:rPr lang="en-US" dirty="0"/>
              <a:t>The goal is to be prepared for when our colleagues provide the weather variable forecasts, enabling us to produce daily power generation forecasts and integrate them into the project dashboard.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DACEB-5057-EC24-58D1-970DA6F58C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0304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393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F4C1-F96F-3522-9DBC-17861283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B51189-C587-FB5E-4988-7BFD05C09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554179-B642-273A-5F0B-01394B81F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observation is that there is no correspondence between the registry frequencies, making it difficult to establish a clear relationship between the PV records and weather station data. A method to align them must be found.</a:t>
            </a:r>
          </a:p>
          <a:p>
            <a:endParaRPr lang="en-US" dirty="0"/>
          </a:p>
          <a:p>
            <a:r>
              <a:rPr lang="en-US" dirty="0"/>
              <a:t>There is a lack of consistency among columns, with varying units and 'scale factor' issues, leading to a lack of normalization. This can seriously impact the ML training process.</a:t>
            </a:r>
          </a:p>
          <a:p>
            <a:endParaRPr lang="en-US" dirty="0"/>
          </a:p>
          <a:p>
            <a:r>
              <a:rPr lang="en-US" dirty="0"/>
              <a:t>Finally, there are missing values, especially within the weather station raw dataset.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C52157-DE3C-1128-8782-10A8F5E5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2BC76D-DADD-7561-4F35-5783B3671C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1054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F86E6-6763-C349-1784-9E55DBE4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982CBE-AC79-1A22-6550-EACF70B8C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B1FBF8-9DA7-25B0-C4C7-8B935C8DC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SVM and </a:t>
            </a:r>
            <a:r>
              <a:rPr lang="en-US" dirty="0" err="1"/>
              <a:t>XGBoost</a:t>
            </a:r>
            <a:r>
              <a:rPr lang="en-US" dirty="0"/>
              <a:t> are ideal for a dataset with 104 samples and 24 features due to their robustness in high-dimensional spaces and their ability to handle small datasets effectively. </a:t>
            </a:r>
          </a:p>
          <a:p>
            <a:r>
              <a:rPr lang="en-US" dirty="0" err="1"/>
              <a:t>XGBoost’s</a:t>
            </a:r>
            <a:r>
              <a:rPr lang="en-US" dirty="0"/>
              <a:t> feature selection and regularization enhance accuracy and manage complexity</a:t>
            </a:r>
            <a:r>
              <a:rPr lang="en-US"/>
              <a:t>. 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4A1AA5-76E9-59C7-C813-7DBEB981F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60BEA3-803D-43C3-8507-8D0B285033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6774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EE2-D7AD-83C0-CEB7-13338308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BF4F80-9A6A-3EED-9300-14349FE84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68EC8A-5F22-D0F1-F1FF-BEC9DAD6E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Methodology:</a:t>
            </a:r>
          </a:p>
          <a:p>
            <a:pPr marL="228600" indent="-228600">
              <a:buAutoNum type="arabicPeriod"/>
            </a:pPr>
            <a:r>
              <a:rPr lang="en-US" b="1" dirty="0"/>
              <a:t>Model Training</a:t>
            </a:r>
            <a:r>
              <a:rPr lang="en-US" dirty="0"/>
              <a:t>: the first step involves training an Extreme Gradient Boosting (</a:t>
            </a:r>
            <a:r>
              <a:rPr lang="en-US" dirty="0" err="1"/>
              <a:t>XGBoost</a:t>
            </a:r>
            <a:r>
              <a:rPr lang="en-US" dirty="0"/>
              <a:t>) machine learning model, which is well-suited for this type of dataset.</a:t>
            </a:r>
          </a:p>
          <a:p>
            <a:pPr marL="228600" indent="-228600">
              <a:buAutoNum type="arabicPeriod"/>
            </a:pPr>
            <a:r>
              <a:rPr lang="en-US" b="1" dirty="0"/>
              <a:t>Hyperparameter Optimization</a:t>
            </a:r>
            <a:r>
              <a:rPr lang="en-US" dirty="0"/>
              <a:t>: next, the model will undergo an iterative hyperparameter optimization process to identify the best possible configuration, improving its performance.</a:t>
            </a:r>
          </a:p>
          <a:p>
            <a:pPr marL="228600" indent="-228600">
              <a:buAutoNum type="arabicPeriod"/>
            </a:pPr>
            <a:r>
              <a:rPr lang="en-US" b="1" dirty="0"/>
              <a:t>Evaluation Metrics</a:t>
            </a:r>
            <a:r>
              <a:rPr lang="en-US" dirty="0"/>
              <a:t>: two metrics will be implemented to assess both the model's accuracy and its ability to generalize, based on the evaluation dataset.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RMSE (Root Mean Square Error)</a:t>
            </a:r>
          </a:p>
          <a:p>
            <a:pPr marL="228600" indent="-228600">
              <a:buAutoNum type="arabicPeriod"/>
            </a:pPr>
            <a:r>
              <a:rPr lang="en-US" b="1" dirty="0"/>
              <a:t>Cross-Validation</a:t>
            </a:r>
            <a:r>
              <a:rPr lang="en-US" dirty="0"/>
              <a:t>: finally, a cross-validation technique will be applied to enhance the model's robustness and prevent overfitting, ensuring generalization to unseen data.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583F5A-DEEC-585C-3908-35F8C4064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DED85-F251-C218-0E58-94E8EFF3E0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3245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793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7D4A-6647-BDAF-F7F4-DA919966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2F00AE-846F-ECC0-9D4C-0B1AED46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4C3299-834A-5AE7-0F17-241A0D35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and fit results obtained from both optimization methods, Bayesian and grid search, are presented here. </a:t>
            </a:r>
          </a:p>
          <a:p>
            <a:r>
              <a:rPr lang="en-US" dirty="0"/>
              <a:t>While both methods perform reasonably well, grid search allows for better manual intervention and results in a </a:t>
            </a:r>
            <a:r>
              <a:rPr lang="en-US" b="1" dirty="0"/>
              <a:t>similar RMSE across the entire dataset compared to the training set</a:t>
            </a:r>
            <a:r>
              <a:rPr lang="en-US" dirty="0"/>
              <a:t>, indicating </a:t>
            </a:r>
            <a:r>
              <a:rPr lang="en-US" u="sng" dirty="0"/>
              <a:t>low overfitting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R² </a:t>
            </a:r>
            <a:r>
              <a:rPr lang="en-US" dirty="0"/>
              <a:t>score is </a:t>
            </a:r>
            <a:r>
              <a:rPr lang="en-US" b="1" dirty="0"/>
              <a:t>very high</a:t>
            </a:r>
            <a:r>
              <a:rPr lang="en-US" dirty="0"/>
              <a:t>, reflecting a </a:t>
            </a:r>
            <a:r>
              <a:rPr lang="en-US" b="1" dirty="0"/>
              <a:t>96% accuracy</a:t>
            </a:r>
            <a:r>
              <a:rPr lang="en-US" dirty="0"/>
              <a:t>. </a:t>
            </a:r>
          </a:p>
          <a:p>
            <a:r>
              <a:rPr lang="en-US" dirty="0"/>
              <a:t>The prediction vs. actual values graph shows a strong correspondence, further confirming that the model </a:t>
            </a:r>
            <a:r>
              <a:rPr lang="en-US" b="1" dirty="0"/>
              <a:t>does not exhibit overfitting</a:t>
            </a:r>
            <a:r>
              <a:rPr lang="en-US" dirty="0"/>
              <a:t>. </a:t>
            </a:r>
          </a:p>
          <a:p>
            <a:r>
              <a:rPr lang="en-US" dirty="0"/>
              <a:t>Additionally, the residuals are distributed normally and symmetrically on both sides, which is another positive indicator of model performance.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5FD258-B2A3-DDE9-EEC6-232D78A6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5EA7E-7F36-C49B-8732-A660FE0923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4852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750C-34B8-3FCD-A8F9-FC2DC19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8B5E26-0437-1B7A-BDAE-B00A02D8A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74A35B-B745-E208-1948-2052A5DF9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radiation and calendar data have traditionally been key factors in power forecasting, especially in </a:t>
            </a:r>
            <a:r>
              <a:rPr lang="en-US" b="1" dirty="0"/>
              <a:t>traditional models</a:t>
            </a:r>
            <a:r>
              <a:rPr lang="en-US" dirty="0"/>
              <a:t>. Our machine learning model similarly identifies these as the most significant contributors.</a:t>
            </a:r>
          </a:p>
          <a:p>
            <a:endParaRPr lang="en-US" dirty="0"/>
          </a:p>
          <a:p>
            <a:r>
              <a:rPr lang="en-US" dirty="0"/>
              <a:t>However, the model is also shedding light on some interesting observations: </a:t>
            </a:r>
            <a:r>
              <a:rPr lang="en-US" b="1" dirty="0"/>
              <a:t>cooling effects </a:t>
            </a:r>
            <a:r>
              <a:rPr lang="en-US" dirty="0"/>
              <a:t>are playing a significant role in the plant's efficiency. 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b="1" dirty="0"/>
              <a:t>use case is highly influenced by passing clouds and weather instability</a:t>
            </a:r>
            <a:r>
              <a:rPr lang="en-US" dirty="0"/>
              <a:t>, which the </a:t>
            </a:r>
            <a:r>
              <a:rPr lang="en-US" u="sng" dirty="0"/>
              <a:t>model effectively captures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7B3F1C-A6C7-20FA-B306-14CEFCECC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08E86-3A57-ABB6-BEE1-1608A76E0A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557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ntrotecnologicoctc.com/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91080E1C-AA64-29D0-AA80-73BA4445D583}"/>
              </a:ext>
            </a:extLst>
          </p:cNvPr>
          <p:cNvSpPr/>
          <p:nvPr userDrawn="1"/>
        </p:nvSpPr>
        <p:spPr>
          <a:xfrm flipH="1">
            <a:off x="0" y="4692768"/>
            <a:ext cx="9904948" cy="2165231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3" name="Imagen 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02D8183-B457-7205-D2BB-28F7D6C89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C1AF520-4C2E-528F-19F5-B47B53D2B1EF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E3852718-7FF1-3435-CE89-947CCF96E9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9F0870F-45F2-66AE-2408-3F9E791354AD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5DC71E-368E-DFDC-D903-0F2218D4979D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2238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flipH="1">
            <a:off x="6797964" y="6165305"/>
            <a:ext cx="3106984" cy="692695"/>
          </a:xfrm>
          <a:custGeom>
            <a:avLst/>
            <a:gdLst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984" h="692695">
                <a:moveTo>
                  <a:pt x="0" y="692695"/>
                </a:moveTo>
                <a:lnTo>
                  <a:pt x="0" y="0"/>
                </a:lnTo>
                <a:cubicBezTo>
                  <a:pt x="1035661" y="230898"/>
                  <a:pt x="2347369" y="30476"/>
                  <a:pt x="3106984" y="692695"/>
                </a:cubicBezTo>
                <a:lnTo>
                  <a:pt x="0" y="692695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A60E45-9F77-CE5E-BFC3-DA0E25732C62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DBDA250-9A00-BB1C-4F28-6B1E1331FF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B2DC2D25-6417-D87F-E441-011354F02E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BDBD21-FBB7-EA09-4231-9B8663D3AD5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70D020-8D33-C155-D984-4ED508AD886B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649974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rot="10800000">
            <a:off x="9201472" y="-2"/>
            <a:ext cx="703476" cy="6858001"/>
          </a:xfrm>
          <a:custGeom>
            <a:avLst/>
            <a:gdLst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703476 w 703476"/>
              <a:gd name="connsiteY2" fmla="*/ 6858001 h 6858001"/>
              <a:gd name="connsiteX3" fmla="*/ 0 w 703476"/>
              <a:gd name="connsiteY3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703476 w 703476"/>
              <a:gd name="connsiteY3" fmla="*/ 6858001 h 6858001"/>
              <a:gd name="connsiteX4" fmla="*/ 0 w 703476"/>
              <a:gd name="connsiteY4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3476" h="6858001">
                <a:moveTo>
                  <a:pt x="0" y="6858001"/>
                </a:moveTo>
                <a:lnTo>
                  <a:pt x="0" y="0"/>
                </a:lnTo>
                <a:cubicBezTo>
                  <a:pt x="374419" y="845389"/>
                  <a:pt x="464166" y="1785666"/>
                  <a:pt x="510782" y="2725946"/>
                </a:cubicBezTo>
                <a:cubicBezTo>
                  <a:pt x="496404" y="3525327"/>
                  <a:pt x="438895" y="4307457"/>
                  <a:pt x="424517" y="5132716"/>
                </a:cubicBezTo>
                <a:cubicBezTo>
                  <a:pt x="457118" y="6294407"/>
                  <a:pt x="610490" y="6282906"/>
                  <a:pt x="703476" y="6858001"/>
                </a:cubicBezTo>
                <a:lnTo>
                  <a:pt x="0" y="685800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1394F5E-9CC0-9D53-9ECE-BA0F414D4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4" t="21182" r="10385" b="26026"/>
          <a:stretch/>
        </p:blipFill>
        <p:spPr>
          <a:xfrm>
            <a:off x="7773666" y="-43075"/>
            <a:ext cx="2262510" cy="10631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35FE7E-E78E-F09C-E540-01C8C4241349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72A6483-B39C-5222-9956-4DB246F609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8B43703-31AD-A69E-C965-55C12D8FA4C1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B8139A-362B-64BB-43E2-8B4BFFF64127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2748247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ángulo rectángulo 8">
            <a:extLst>
              <a:ext uri="{FF2B5EF4-FFF2-40B4-BE49-F238E27FC236}">
                <a16:creationId xmlns:a16="http://schemas.microsoft.com/office/drawing/2014/main" id="{03B22268-AB9E-BA48-3163-D2D7BD8D993D}"/>
              </a:ext>
            </a:extLst>
          </p:cNvPr>
          <p:cNvSpPr/>
          <p:nvPr userDrawn="1"/>
        </p:nvSpPr>
        <p:spPr>
          <a:xfrm flipH="1">
            <a:off x="0" y="3429000"/>
            <a:ext cx="9906000" cy="3428999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BCB777-844C-4BAB-EFDD-4B7D3BCDDB87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B94DF0D-E8B7-6F47-64E9-DF35CA188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DA2F762-663B-A6CC-D54E-F7978B20D8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EF62FB-4628-4436-5776-7AF351D05FC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A21B69-B1C2-24E3-876B-256E29F8B189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131934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ondo amarillo de apoy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ndo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Imagen 3" descr="Texto, Logotipo&#10;&#10;Descripción generada automáticamente">
            <a:extLst>
              <a:ext uri="{FF2B5EF4-FFF2-40B4-BE49-F238E27FC236}">
                <a16:creationId xmlns:a16="http://schemas.microsoft.com/office/drawing/2014/main" id="{B52A3CC7-F4DA-4C42-885A-A21CF7ACA5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  <p:pic>
        <p:nvPicPr>
          <p:cNvPr id="5" name="Imagen 4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B8081606-090A-13A9-AB6F-FFE41BEA62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8" t="10325" r="11215" b="38139"/>
          <a:stretch/>
        </p:blipFill>
        <p:spPr>
          <a:xfrm>
            <a:off x="1327139" y="2646938"/>
            <a:ext cx="1815530" cy="1224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BD5D0B-5ECC-A121-0BAE-5B933E074505}"/>
              </a:ext>
            </a:extLst>
          </p:cNvPr>
          <p:cNvSpPr txBox="1"/>
          <p:nvPr userDrawn="1"/>
        </p:nvSpPr>
        <p:spPr>
          <a:xfrm>
            <a:off x="3319475" y="2781884"/>
            <a:ext cx="326705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H2OLOCK Project has received funding from the European Union’s LIFE 2021-2027 </a:t>
            </a:r>
            <a:r>
              <a:rPr lang="en-US" sz="1400" b="1" i="0" u="none" dirty="0" err="1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Prorgramme</a:t>
            </a:r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under grant agreement nº 101074546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E5F8E8-4E13-6911-56A2-6EC00101A966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Picture 2" descr="LIFE programme - Wikipedia">
            <a:extLst>
              <a:ext uri="{FF2B5EF4-FFF2-40B4-BE49-F238E27FC236}">
                <a16:creationId xmlns:a16="http://schemas.microsoft.com/office/drawing/2014/main" id="{20017116-6C56-7D09-50C5-7370B4A4EA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568" y="2646937"/>
            <a:ext cx="1693141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140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 de l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inal_PPT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203860-678B-453B-A2DA-DBCB941C254C}"/>
              </a:ext>
            </a:extLst>
          </p:cNvPr>
          <p:cNvSpPr txBox="1"/>
          <p:nvPr userDrawn="1"/>
        </p:nvSpPr>
        <p:spPr>
          <a:xfrm>
            <a:off x="0" y="2731373"/>
            <a:ext cx="9906000" cy="1395254"/>
          </a:xfrm>
          <a:prstGeom prst="rect">
            <a:avLst/>
          </a:prstGeom>
          <a:solidFill>
            <a:srgbClr val="4B4B4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Parque Científico y Tecnológico de Cantabria (PCTCAN) – Isabel Torres, 1 – 39011 – Santander (Cantabria)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Tel.: 942 766976 / Info@centrotecnologicoCTC.com/ </a:t>
            </a: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www.centrotecnologicoCTC.com</a:t>
            </a: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Shape 48">
            <a:extLst>
              <a:ext uri="{FF2B5EF4-FFF2-40B4-BE49-F238E27FC236}">
                <a16:creationId xmlns:a16="http://schemas.microsoft.com/office/drawing/2014/main" id="{91DCAEF7-D629-47C4-B6EC-AEE7F3F68D49}"/>
              </a:ext>
            </a:extLst>
          </p:cNvPr>
          <p:cNvSpPr/>
          <p:nvPr userDrawn="1"/>
        </p:nvSpPr>
        <p:spPr>
          <a:xfrm>
            <a:off x="128464" y="6597352"/>
            <a:ext cx="7149621" cy="19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7419" tIns="37419" rIns="37419" bIns="37419" anchor="ctr">
            <a:spAutoFit/>
          </a:bodyPr>
          <a:lstStyle/>
          <a:p>
            <a:pPr lvl="0" algn="l" defTabSz="336774">
              <a:defRPr sz="1800"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Confidential CTC. Reproduction, copying, use, distribution, commercialization, public communication or any other activity with the content of this document is prohibited</a:t>
            </a:r>
          </a:p>
        </p:txBody>
      </p:sp>
      <p:pic>
        <p:nvPicPr>
          <p:cNvPr id="8" name="Imagen 7" descr="Texto, Logotipo&#10;&#10;Descripción generada automáticamente">
            <a:extLst>
              <a:ext uri="{FF2B5EF4-FFF2-40B4-BE49-F238E27FC236}">
                <a16:creationId xmlns:a16="http://schemas.microsoft.com/office/drawing/2014/main" id="{1C592B54-BE0F-4F6D-81CA-5F6B94B288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837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67383" y="178594"/>
            <a:ext cx="7971234" cy="102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6200"/>
              <a:t>Texto del título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67383" y="1946672"/>
            <a:ext cx="7971234" cy="3384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3100"/>
              <a:t>Nivel de texto 1</a:t>
            </a:r>
          </a:p>
          <a:p>
            <a:pPr lvl="1">
              <a:defRPr sz="1800"/>
            </a:pPr>
            <a:r>
              <a:rPr sz="3100"/>
              <a:t>Nivel de texto 2</a:t>
            </a:r>
          </a:p>
          <a:p>
            <a:pPr lvl="2">
              <a:defRPr sz="1800"/>
            </a:pPr>
            <a:r>
              <a:rPr sz="3100"/>
              <a:t>Nivel de texto 3</a:t>
            </a:r>
          </a:p>
          <a:p>
            <a:pPr lvl="3">
              <a:defRPr sz="1800"/>
            </a:pPr>
            <a:r>
              <a:rPr sz="3100"/>
              <a:t>Nivel de texto 4</a:t>
            </a:r>
          </a:p>
          <a:p>
            <a:pPr lvl="4">
              <a:defRPr sz="1800"/>
            </a:pPr>
            <a:r>
              <a:rPr sz="3100"/>
              <a:t>Nivel de texto 5</a:t>
            </a:r>
          </a:p>
        </p:txBody>
      </p:sp>
    </p:spTree>
    <p:extLst>
      <p:ext uri="{BB962C8B-B14F-4D97-AF65-F5344CB8AC3E}">
        <p14:creationId xmlns:p14="http://schemas.microsoft.com/office/powerpoint/2010/main" val="395176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5" r:id="rId5"/>
    <p:sldLayoutId id="2147483716" r:id="rId6"/>
  </p:sldLayoutIdLst>
  <p:transition spd="med"/>
  <p:hf hdr="0" dt="0"/>
  <p:txStyles>
    <p:titleStyle>
      <a:lvl1pPr algn="ctr" defTabSz="430322" eaLnBrk="1" hangingPunct="1">
        <a:defRPr sz="3600" b="0" i="0" baseline="0">
          <a:solidFill>
            <a:srgbClr val="4B4B4A"/>
          </a:solidFill>
          <a:latin typeface="+mj-lt"/>
          <a:ea typeface="+mn-ea"/>
          <a:cs typeface="+mn-cs"/>
          <a:sym typeface="Gill Sans"/>
        </a:defRPr>
      </a:lvl1pPr>
      <a:lvl2pPr indent="168387" algn="ctr" defTabSz="430322" eaLnBrk="1" hangingPunct="1">
        <a:defRPr sz="6200"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 sz="6200"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 sz="6200"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 sz="6200"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 sz="6200"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 sz="6200"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 sz="6200"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 sz="6200">
          <a:latin typeface="+mn-lt"/>
          <a:ea typeface="+mn-ea"/>
          <a:cs typeface="+mn-cs"/>
          <a:sym typeface="Gill Sans"/>
        </a:defRPr>
      </a:lvl9pPr>
    </p:titleStyle>
    <p:bodyStyle>
      <a:lvl1pPr marL="654837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1pPr>
      <a:lvl2pPr marL="982256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2pPr>
      <a:lvl3pPr marL="1309675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3pPr>
      <a:lvl4pPr marL="1637094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4pPr>
      <a:lvl5pPr marL="1964512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5pPr>
      <a:lvl6pPr marL="222644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6pPr>
      <a:lvl7pPr marL="248838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7pPr>
      <a:lvl8pPr marL="275031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8pPr>
      <a:lvl9pPr marL="301225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9pPr>
    </p:bodyStyle>
    <p:otherStyle>
      <a:lvl1pPr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838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microsoft.com/office/2007/relationships/hdphoto" Target="../media/hdphoto1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325524" y="2823706"/>
            <a:ext cx="52549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Use Case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8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H2OLOCK Agrivoltaics deployment</a:t>
            </a:r>
          </a:p>
        </p:txBody>
      </p:sp>
    </p:spTree>
    <p:extLst>
      <p:ext uri="{BB962C8B-B14F-4D97-AF65-F5344CB8AC3E}">
        <p14:creationId xmlns:p14="http://schemas.microsoft.com/office/powerpoint/2010/main" val="420614058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H2OLOCK Agrivoltaics project</a:t>
            </a:r>
          </a:p>
        </p:txBody>
      </p:sp>
      <p:pic>
        <p:nvPicPr>
          <p:cNvPr id="7" name="Imagen 6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E9045BF9-6FAC-A6D7-9A50-75A4B9E2A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2268264"/>
            <a:ext cx="6185813" cy="2680701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C69D1BA-B8AD-D88A-60A0-1EE037B992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60" y="881743"/>
            <a:ext cx="3076713" cy="1535122"/>
          </a:xfrm>
          <a:prstGeom prst="rect">
            <a:avLst/>
          </a:prstGeom>
        </p:spPr>
      </p:pic>
      <p:sp>
        <p:nvSpPr>
          <p:cNvPr id="11" name="Espace réservé du texte 55">
            <a:extLst>
              <a:ext uri="{FF2B5EF4-FFF2-40B4-BE49-F238E27FC236}">
                <a16:creationId xmlns:a16="http://schemas.microsoft.com/office/drawing/2014/main" id="{3CACFC9A-5CD2-F8A9-7D6B-92AC4B8EE7D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GEOGRAPHICAL LOCATION</a:t>
            </a:r>
            <a:endParaRPr lang="fr-FR" sz="1400" dirty="0"/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Murcia (Spain) 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es-ES" sz="1400" dirty="0"/>
              <a:t>Palmela (Portugal)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/>
              <a:t>TYPES OF PARTNERS INVOLVED: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Irrigators' Community of Lorca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Farmers' Association: AVIPE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Technological Center: CTC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Innovative Companies: ARANA, ARADA &amp;GFI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PROJECT BUDGET: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1,8 M€  | 3 </a:t>
            </a:r>
            <a:r>
              <a:rPr lang="fr-FR" sz="1400" dirty="0" err="1"/>
              <a:t>years</a:t>
            </a:r>
            <a:endParaRPr lang="fr-F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76F2E2-278F-3480-10C4-2AEA06457033}"/>
              </a:ext>
            </a:extLst>
          </p:cNvPr>
          <p:cNvSpPr txBox="1"/>
          <p:nvPr/>
        </p:nvSpPr>
        <p:spPr>
          <a:xfrm>
            <a:off x="221227" y="4885944"/>
            <a:ext cx="49911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i="1" dirty="0"/>
              <a:t>This project has received funding from the European Union’s LIFE 2021-2027 </a:t>
            </a:r>
            <a:r>
              <a:rPr lang="en-US" sz="1200" i="1" dirty="0" err="1"/>
              <a:t>Prorgramme</a:t>
            </a:r>
            <a:r>
              <a:rPr lang="en-US" sz="1200" i="1" dirty="0"/>
              <a:t> under grant agreement nº 101074546</a:t>
            </a:r>
          </a:p>
        </p:txBody>
      </p:sp>
    </p:spTree>
    <p:extLst>
      <p:ext uri="{BB962C8B-B14F-4D97-AF65-F5344CB8AC3E}">
        <p14:creationId xmlns:p14="http://schemas.microsoft.com/office/powerpoint/2010/main" val="3997522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H2OLOCK Agrivoltaics deployment (I)</a:t>
            </a:r>
          </a:p>
        </p:txBody>
      </p:sp>
      <p:pic>
        <p:nvPicPr>
          <p:cNvPr id="4" name="Imagen 3" descr="Un puente sobre un cuerpo de agua&#10;&#10;Descripción generada automáticamente con confianza media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1760435"/>
            <a:ext cx="6760029" cy="3828363"/>
          </a:xfrm>
          <a:prstGeom prst="rect">
            <a:avLst/>
          </a:prstGeom>
        </p:spPr>
      </p:pic>
      <p:sp>
        <p:nvSpPr>
          <p:cNvPr id="3" name="Espace réservé du texte 55">
            <a:extLst>
              <a:ext uri="{FF2B5EF4-FFF2-40B4-BE49-F238E27FC236}">
                <a16:creationId xmlns:a16="http://schemas.microsoft.com/office/drawing/2014/main" id="{D86877B3-B476-2A3A-AA74-E7AFDC5F080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s-ES" sz="1400" dirty="0" err="1"/>
              <a:t>Floating</a:t>
            </a:r>
            <a:r>
              <a:rPr lang="es-ES" sz="1400" dirty="0"/>
              <a:t> </a:t>
            </a:r>
            <a:r>
              <a:rPr lang="es-ES" sz="1400" dirty="0" err="1"/>
              <a:t>shetup</a:t>
            </a:r>
            <a:endParaRPr lang="fr-FR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es-ES" sz="1400" dirty="0"/>
              <a:t>~ 26 x 11 m (85 x 39 </a:t>
            </a:r>
            <a:r>
              <a:rPr lang="es-ES" sz="1400" dirty="0" err="1"/>
              <a:t>feet</a:t>
            </a:r>
            <a:r>
              <a:rPr lang="es-ES" sz="1400" dirty="0"/>
              <a:t>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 err="1"/>
              <a:t>Pannels</a:t>
            </a:r>
            <a:r>
              <a:rPr lang="fr-FR" sz="1400" dirty="0"/>
              <a:t>: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Suman </a:t>
            </a:r>
            <a:r>
              <a:rPr lang="en-US" sz="1400" dirty="0" err="1"/>
              <a:t>smf</a:t>
            </a:r>
            <a:r>
              <a:rPr lang="en-US" sz="1400" dirty="0"/>
              <a:t> 310-5x12DW 310W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88 units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 err="1"/>
              <a:t>Capacity</a:t>
            </a:r>
            <a:r>
              <a:rPr lang="fr-FR" sz="1400" dirty="0"/>
              <a:t>: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27,2 </a:t>
            </a:r>
            <a:r>
              <a:rPr lang="fr-FR" sz="1400" dirty="0" err="1"/>
              <a:t>kWp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20982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H2OLOCK Agrivoltaics deployment (II)</a:t>
            </a:r>
          </a:p>
        </p:txBody>
      </p:sp>
      <p:pic>
        <p:nvPicPr>
          <p:cNvPr id="6" name="Imagen 5" descr="Vista de una carretera&#10;&#10;Descripción generada automáticamente">
            <a:extLst>
              <a:ext uri="{FF2B5EF4-FFF2-40B4-BE49-F238E27FC236}">
                <a16:creationId xmlns:a16="http://schemas.microsoft.com/office/drawing/2014/main" id="{26A411EB-E0D8-E65A-919B-FAAA945EA9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7746"/>
            <a:ext cx="4572000" cy="3429000"/>
          </a:xfrm>
          <a:prstGeom prst="rect">
            <a:avLst/>
          </a:prstGeom>
        </p:spPr>
      </p:pic>
      <p:pic>
        <p:nvPicPr>
          <p:cNvPr id="8" name="Imagen 7" descr="Vista de una ciudad&#10;&#10;Descripción generada automáticamente con confianza media">
            <a:extLst>
              <a:ext uri="{FF2B5EF4-FFF2-40B4-BE49-F238E27FC236}">
                <a16:creationId xmlns:a16="http://schemas.microsoft.com/office/drawing/2014/main" id="{6E77FAF6-53ED-73DD-E71C-36E6FEA97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029" y="2137747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193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H2OLOCK </a:t>
            </a:r>
            <a:r>
              <a:rPr lang="en-US" dirty="0">
                <a:solidFill>
                  <a:srgbClr val="FFC000"/>
                </a:solidFill>
              </a:rPr>
              <a:t>| Problem definition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063" y="2683765"/>
            <a:ext cx="7898645" cy="39759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5F34F-E15E-4DD9-C76F-F2A7A41628CF}"/>
              </a:ext>
            </a:extLst>
          </p:cNvPr>
          <p:cNvSpPr txBox="1"/>
          <p:nvPr/>
        </p:nvSpPr>
        <p:spPr>
          <a:xfrm>
            <a:off x="221227" y="1760435"/>
            <a:ext cx="771173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Primary user needs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Accurate short-term forecasting for the demonstrator in real-time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Informed planning and optimization of daily pumping operations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CAD09D9-2530-181F-B275-1C0C6DD9C6EC}"/>
              </a:ext>
            </a:extLst>
          </p:cNvPr>
          <p:cNvSpPr/>
          <p:nvPr/>
        </p:nvSpPr>
        <p:spPr>
          <a:xfrm>
            <a:off x="533400" y="2095500"/>
            <a:ext cx="6553200" cy="266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631746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068285" y="2700595"/>
            <a:ext cx="5769429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Machine Learning 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Applied to Photovoltaics</a:t>
            </a:r>
          </a:p>
        </p:txBody>
      </p:sp>
    </p:spTree>
    <p:extLst>
      <p:ext uri="{BB962C8B-B14F-4D97-AF65-F5344CB8AC3E}">
        <p14:creationId xmlns:p14="http://schemas.microsoft.com/office/powerpoint/2010/main" val="10668704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CC7A-1213-A1CE-4F72-1FFD7179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3760CC-57B2-4E37-B568-80AAD909AF20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publications from Q1 Journals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8FA0D29-94FD-6472-875B-6C854CB0D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21311"/>
              </p:ext>
            </p:extLst>
          </p:nvPr>
        </p:nvGraphicFramePr>
        <p:xfrm>
          <a:off x="386080" y="2164080"/>
          <a:ext cx="9377679" cy="3696273"/>
        </p:xfrm>
        <a:graphic>
          <a:graphicData uri="http://schemas.openxmlformats.org/drawingml/2006/table">
            <a:tbl>
              <a:tblPr firstRow="1" firstCol="1" bandRow="1">
                <a:tableStyleId>{D03447BB-5D67-496B-8E87-E561075AD55C}</a:tableStyleId>
              </a:tblPr>
              <a:tblGrid>
                <a:gridCol w="560171">
                  <a:extLst>
                    <a:ext uri="{9D8B030D-6E8A-4147-A177-3AD203B41FA5}">
                      <a16:colId xmlns:a16="http://schemas.microsoft.com/office/drawing/2014/main" val="3237463511"/>
                    </a:ext>
                  </a:extLst>
                </a:gridCol>
                <a:gridCol w="3930549">
                  <a:extLst>
                    <a:ext uri="{9D8B030D-6E8A-4147-A177-3AD203B41FA5}">
                      <a16:colId xmlns:a16="http://schemas.microsoft.com/office/drawing/2014/main" val="376874287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4644499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8583649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488863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100137552"/>
                    </a:ext>
                  </a:extLst>
                </a:gridCol>
                <a:gridCol w="1777999">
                  <a:extLst>
                    <a:ext uri="{9D8B030D-6E8A-4147-A177-3AD203B41FA5}">
                      <a16:colId xmlns:a16="http://schemas.microsoft.com/office/drawing/2014/main" val="635431499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Title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Authors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Year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Citations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Journal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</a:rPr>
                        <a:t>DOI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60558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learning–assisted molecular design and efficiency prediction for high-performance organic photovoltaic 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Wenbo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 Sun,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Science Advances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10.1126/sciadv.aay4275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28753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Statistical Analysis and Development of an Ensemble-Based Machine Learning Model for Photovoltaic Fault Detection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Muhammad Hussain,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2022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10.3390/en15155492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02625"/>
                  </a:ext>
                </a:extLst>
              </a:tr>
              <a:tr h="49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property prediction for organic photovoltaic devices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Nastaran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Meftahi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51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Computational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10.1038/s41524-020-00429-w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8058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Condition Monitoring in Photovoltaic Systems by Semi-Supervised Machine Learning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Lars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Maaløe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O.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Winther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10.3390/en13030584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95880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Artificial Intelligence in Photovoltaic Fault Identification and Diagnosis: A Systematic Review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Mahmudul Islam,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10.3390/en16217417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4016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Schemes for Anomaly Detection in Solar Power Plants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M. Ibrahim,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10.20944/preprints202112.0481.v1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1105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Extreme Learning Machines for Solar Photovoltaic Power Predictions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S. Al-Dahidi, et al.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10.3390/EN11102725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27851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Deep and Machine Learning Models to Forecast Photovoltaic Power Generation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Sergio Cantillo-Luna,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10.3390/en16104097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16639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Review on the Application of Photovoltaic Forecasting Using Machine Learning for Very Short- to Long-Term Forecasting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Putri Nor Liyana Mohamad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Radzi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Sustainability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10.3390/su15042942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59066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Assessment of Machine and Deep Learning Approaches for Fault Diagnosis in Photovoltaic Systems Using Infrared Thermography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Boubaker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Remote.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Sens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10.3390/rs15061686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8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0487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summary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FAB2D7-2FED-B498-E8A9-BBB5C3A6A10D}"/>
              </a:ext>
            </a:extLst>
          </p:cNvPr>
          <p:cNvSpPr txBox="1"/>
          <p:nvPr/>
        </p:nvSpPr>
        <p:spPr>
          <a:xfrm>
            <a:off x="868680" y="2450069"/>
            <a:ext cx="693420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Material design and efficiency prediction</a:t>
            </a:r>
            <a:r>
              <a:rPr lang="en-US" dirty="0"/>
              <a:t>: [1][3]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Fault detection and diagnosis</a:t>
            </a:r>
            <a:r>
              <a:rPr lang="en-US" dirty="0"/>
              <a:t>:[2][5][6][10]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Condition monitoring</a:t>
            </a:r>
            <a:r>
              <a:rPr lang="en-US" dirty="0"/>
              <a:t>: [4]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Power forecasting</a:t>
            </a:r>
            <a:r>
              <a:rPr lang="en-US" dirty="0"/>
              <a:t>: [7][8][9]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433F6D-37EC-5CE5-AB87-C0FAE77DEBF5}"/>
              </a:ext>
            </a:extLst>
          </p:cNvPr>
          <p:cNvSpPr txBox="1"/>
          <p:nvPr/>
        </p:nvSpPr>
        <p:spPr>
          <a:xfrm>
            <a:off x="2212348" y="4574356"/>
            <a:ext cx="63712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Not informed optimization techniques for model </a:t>
            </a:r>
            <a:r>
              <a:rPr lang="en-US" dirty="0" err="1"/>
              <a:t>hyperparams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A100BA-200E-58AA-B48B-C6448526ECB5}"/>
              </a:ext>
            </a:extLst>
          </p:cNvPr>
          <p:cNvSpPr txBox="1"/>
          <p:nvPr/>
        </p:nvSpPr>
        <p:spPr>
          <a:xfrm>
            <a:off x="2212347" y="4984550"/>
            <a:ext cx="478943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Rely on large and robust datasets for training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0AA611D-8A31-CB7D-5427-A5B9842446E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244191" y="4447506"/>
            <a:ext cx="968157" cy="31151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249A6007-F0D0-6B22-BC2B-87E7B61A1B43}"/>
              </a:ext>
            </a:extLst>
          </p:cNvPr>
          <p:cNvCxnSpPr>
            <a:cxnSpLocks/>
          </p:cNvCxnSpPr>
          <p:nvPr/>
        </p:nvCxnSpPr>
        <p:spPr>
          <a:xfrm>
            <a:off x="1244191" y="4435756"/>
            <a:ext cx="968156" cy="74598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2D0886-E17C-23E2-4608-D25646A8AA21}"/>
              </a:ext>
            </a:extLst>
          </p:cNvPr>
          <p:cNvSpPr txBox="1"/>
          <p:nvPr/>
        </p:nvSpPr>
        <p:spPr>
          <a:xfrm>
            <a:off x="866068" y="5274704"/>
            <a:ext cx="849890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Novelty: </a:t>
            </a:r>
          </a:p>
          <a:p>
            <a:r>
              <a:rPr lang="en-US" b="1" dirty="0">
                <a:solidFill>
                  <a:srgbClr val="FFC000"/>
                </a:solidFill>
              </a:rPr>
              <a:t>It faces the challenge with early-stage datasets (few months)</a:t>
            </a:r>
          </a:p>
          <a:p>
            <a:r>
              <a:rPr lang="en-US" b="1" dirty="0">
                <a:solidFill>
                  <a:srgbClr val="FFC000"/>
                </a:solidFill>
              </a:rPr>
              <a:t>Non frequently used model (the XGBOOST) + informed optimization techniques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575374-214C-C917-2A5F-818F3F7B1877}"/>
              </a:ext>
            </a:extLst>
          </p:cNvPr>
          <p:cNvSpPr/>
          <p:nvPr/>
        </p:nvSpPr>
        <p:spPr>
          <a:xfrm>
            <a:off x="739036" y="4058433"/>
            <a:ext cx="8004131" cy="213960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52420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Applied to Photovoltaics – Variable renewable energy (VRE) forecasting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ABFAAD-25B2-1DF8-8DBC-D089D30E6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6" y="2222621"/>
            <a:ext cx="8229599" cy="294984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9E91151-DA1D-CFF0-4F99-E16BD6843C6C}"/>
              </a:ext>
            </a:extLst>
          </p:cNvPr>
          <p:cNvSpPr txBox="1"/>
          <p:nvPr/>
        </p:nvSpPr>
        <p:spPr>
          <a:xfrm>
            <a:off x="80676" y="6213815"/>
            <a:ext cx="887650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400" i="1" dirty="0"/>
              <a:t>International Renewable Energy Agency, Advanced forecasting of variable renewable power generation: Innovation Landscape Brief. 2020. [Online]. Available: www.irena.org</a:t>
            </a:r>
            <a:endParaRPr lang="es-ES" sz="1400" i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165F69-3CAC-B50B-4880-E0EC70CB60B4}"/>
              </a:ext>
            </a:extLst>
          </p:cNvPr>
          <p:cNvSpPr/>
          <p:nvPr/>
        </p:nvSpPr>
        <p:spPr>
          <a:xfrm>
            <a:off x="2842364" y="2789718"/>
            <a:ext cx="4221272" cy="108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4F78DC-77BC-79D9-15CD-25E6EB82D0E9}"/>
              </a:ext>
            </a:extLst>
          </p:cNvPr>
          <p:cNvSpPr/>
          <p:nvPr/>
        </p:nvSpPr>
        <p:spPr>
          <a:xfrm>
            <a:off x="1855940" y="4424287"/>
            <a:ext cx="2465539" cy="36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959334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3EB1-C0A5-5B31-7BB7-6A4653B5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1E6103-0B39-20C7-36F6-6A635052A269}"/>
              </a:ext>
            </a:extLst>
          </p:cNvPr>
          <p:cNvSpPr txBox="1"/>
          <p:nvPr/>
        </p:nvSpPr>
        <p:spPr>
          <a:xfrm>
            <a:off x="2068285" y="2700595"/>
            <a:ext cx="5769429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CTC’s approach 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ML development</a:t>
            </a:r>
          </a:p>
        </p:txBody>
      </p:sp>
    </p:spTree>
    <p:extLst>
      <p:ext uri="{BB962C8B-B14F-4D97-AF65-F5344CB8AC3E}">
        <p14:creationId xmlns:p14="http://schemas.microsoft.com/office/powerpoint/2010/main" val="32908426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7221-AE37-CDEF-F7F8-B4EBB5A5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2227E2B-ECC2-73B9-C3CE-646B2E005F0F}"/>
              </a:ext>
            </a:extLst>
          </p:cNvPr>
          <p:cNvSpPr/>
          <p:nvPr/>
        </p:nvSpPr>
        <p:spPr>
          <a:xfrm>
            <a:off x="5035807" y="2188028"/>
            <a:ext cx="3600449" cy="2160000"/>
          </a:xfrm>
          <a:prstGeom prst="roundRect">
            <a:avLst>
              <a:gd name="adj" fmla="val 9549"/>
            </a:avLst>
          </a:prstGeom>
          <a:solidFill>
            <a:srgbClr val="E5AB1A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0F110A8-9B2B-1A42-64D6-450398F1D138}"/>
              </a:ext>
            </a:extLst>
          </p:cNvPr>
          <p:cNvSpPr/>
          <p:nvPr/>
        </p:nvSpPr>
        <p:spPr>
          <a:xfrm>
            <a:off x="703293" y="2188029"/>
            <a:ext cx="3600449" cy="3517449"/>
          </a:xfrm>
          <a:prstGeom prst="roundRect">
            <a:avLst>
              <a:gd name="adj" fmla="val 9549"/>
            </a:avLst>
          </a:prstGeom>
          <a:solidFill>
            <a:srgbClr val="E5AB1A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5CC2825-7CAC-6B6A-ACB2-36FF8060B6D7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Dataset characteristics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Private weather data and photovoltaic generation records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78588C-0A3F-C814-2110-89C5946A4717}"/>
              </a:ext>
            </a:extLst>
          </p:cNvPr>
          <p:cNvSpPr txBox="1"/>
          <p:nvPr/>
        </p:nvSpPr>
        <p:spPr>
          <a:xfrm>
            <a:off x="888349" y="2381491"/>
            <a:ext cx="3415393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 err="1"/>
              <a:t>Weather</a:t>
            </a:r>
            <a:r>
              <a:rPr lang="es-ES" b="1" dirty="0"/>
              <a:t> </a:t>
            </a:r>
            <a:r>
              <a:rPr lang="es-ES" b="1" dirty="0" err="1"/>
              <a:t>station</a:t>
            </a:r>
            <a:r>
              <a:rPr lang="es-ES" b="1" dirty="0"/>
              <a:t> raw </a:t>
            </a:r>
            <a:r>
              <a:rPr lang="es-ES" b="1" dirty="0" err="1"/>
              <a:t>dataset</a:t>
            </a:r>
            <a:r>
              <a:rPr lang="es-ES" b="1" dirty="0"/>
              <a:t>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Entries</a:t>
            </a:r>
            <a:r>
              <a:rPr lang="es-ES" b="1" dirty="0"/>
              <a:t>:</a:t>
            </a:r>
            <a:r>
              <a:rPr lang="es-ES" dirty="0"/>
              <a:t> 25.197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Sampling</a:t>
            </a:r>
            <a:r>
              <a:rPr lang="es-ES" b="1" dirty="0"/>
              <a:t> </a:t>
            </a:r>
            <a:r>
              <a:rPr lang="es-ES" b="1" dirty="0" err="1"/>
              <a:t>Frequency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u="sng" dirty="0"/>
              <a:t>10 </a:t>
            </a:r>
            <a:r>
              <a:rPr lang="es-ES" u="sng" dirty="0" err="1"/>
              <a:t>seconds</a:t>
            </a:r>
            <a:endParaRPr lang="es-E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Columns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Timestamp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Temperature</a:t>
            </a:r>
            <a:r>
              <a:rPr lang="es-ES" dirty="0"/>
              <a:t> (°C)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Windspeed</a:t>
            </a:r>
            <a:r>
              <a:rPr lang="es-ES" dirty="0"/>
              <a:t> (km/h)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Solar </a:t>
            </a:r>
            <a:r>
              <a:rPr lang="es-ES" dirty="0" err="1"/>
              <a:t>Radiation</a:t>
            </a:r>
            <a:r>
              <a:rPr lang="es-ES" dirty="0"/>
              <a:t> (W/m²)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Moisture</a:t>
            </a:r>
            <a:r>
              <a:rPr lang="es-ES" dirty="0"/>
              <a:t>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Rain (mm)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Pressure</a:t>
            </a:r>
            <a:r>
              <a:rPr lang="es-ES" dirty="0"/>
              <a:t> (</a:t>
            </a:r>
            <a:r>
              <a:rPr lang="es-ES" dirty="0" err="1"/>
              <a:t>mmH₂O</a:t>
            </a:r>
            <a:r>
              <a:rPr lang="es-ES" dirty="0"/>
              <a:t>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BF4370-F984-47CC-E32C-D941A5395518}"/>
              </a:ext>
            </a:extLst>
          </p:cNvPr>
          <p:cNvSpPr txBox="1"/>
          <p:nvPr/>
        </p:nvSpPr>
        <p:spPr>
          <a:xfrm>
            <a:off x="5257404" y="2381491"/>
            <a:ext cx="360045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 err="1"/>
              <a:t>Photovoltaic</a:t>
            </a:r>
            <a:r>
              <a:rPr lang="es-ES" b="1" dirty="0"/>
              <a:t> </a:t>
            </a:r>
            <a:r>
              <a:rPr lang="es-ES" b="1" dirty="0" err="1"/>
              <a:t>plant</a:t>
            </a:r>
            <a:r>
              <a:rPr lang="es-ES" b="1" dirty="0"/>
              <a:t> raw </a:t>
            </a:r>
            <a:r>
              <a:rPr lang="es-ES" b="1" dirty="0" err="1"/>
              <a:t>dataset</a:t>
            </a:r>
            <a:r>
              <a:rPr lang="es-ES" b="1" dirty="0"/>
              <a:t>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Entries</a:t>
            </a:r>
            <a:r>
              <a:rPr lang="es-ES" b="1" dirty="0"/>
              <a:t>:</a:t>
            </a:r>
            <a:r>
              <a:rPr lang="es-ES" dirty="0"/>
              <a:t> 257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Sampling</a:t>
            </a:r>
            <a:r>
              <a:rPr lang="es-ES" b="1" dirty="0"/>
              <a:t> </a:t>
            </a:r>
            <a:r>
              <a:rPr lang="es-ES" b="1" dirty="0" err="1"/>
              <a:t>Frequency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u="sng" dirty="0" err="1"/>
              <a:t>Daily</a:t>
            </a:r>
            <a:endParaRPr lang="es-E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Columns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Timestamp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PV </a:t>
            </a:r>
            <a:r>
              <a:rPr lang="es-ES" dirty="0" err="1"/>
              <a:t>Yield</a:t>
            </a:r>
            <a:r>
              <a:rPr lang="es-ES" dirty="0"/>
              <a:t> (kWh)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BE43D7-D631-F986-B682-922C1665A417}"/>
              </a:ext>
            </a:extLst>
          </p:cNvPr>
          <p:cNvSpPr txBox="1"/>
          <p:nvPr/>
        </p:nvSpPr>
        <p:spPr>
          <a:xfrm>
            <a:off x="4953000" y="4970480"/>
            <a:ext cx="44069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Records from 1 February 2024, covering approximately the first eight months; </a:t>
            </a:r>
            <a:r>
              <a:rPr lang="en-US" b="1" u="sng" dirty="0"/>
              <a:t>data are limited</a:t>
            </a:r>
            <a:endParaRPr lang="es-ES" u="sng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320D2E-315E-2CAF-4E1C-7AA5A38FA21E}"/>
              </a:ext>
            </a:extLst>
          </p:cNvPr>
          <p:cNvSpPr txBox="1"/>
          <p:nvPr/>
        </p:nvSpPr>
        <p:spPr>
          <a:xfrm>
            <a:off x="1726610" y="5339812"/>
            <a:ext cx="127118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Input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1C0429-7E99-8F93-1CF1-36DA1CD3B850}"/>
              </a:ext>
            </a:extLst>
          </p:cNvPr>
          <p:cNvSpPr txBox="1"/>
          <p:nvPr/>
        </p:nvSpPr>
        <p:spPr>
          <a:xfrm>
            <a:off x="6000065" y="3973566"/>
            <a:ext cx="1671933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Output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8CCE8B8-901C-D006-26A2-4BB17B597E2B}"/>
              </a:ext>
            </a:extLst>
          </p:cNvPr>
          <p:cNvSpPr/>
          <p:nvPr/>
        </p:nvSpPr>
        <p:spPr>
          <a:xfrm>
            <a:off x="888349" y="2692400"/>
            <a:ext cx="3289951" cy="609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1504AE5-6C4F-4B18-9B05-09017E8CB805}"/>
              </a:ext>
            </a:extLst>
          </p:cNvPr>
          <p:cNvSpPr/>
          <p:nvPr/>
        </p:nvSpPr>
        <p:spPr>
          <a:xfrm>
            <a:off x="5257404" y="2705100"/>
            <a:ext cx="3289951" cy="609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1812262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BD36-8C8D-B7BA-F2E5-1DD6DA14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2BCB73-CA77-F983-4062-F7E7106E83C6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Dataset characteristics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Data curation (8 months regs.)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DE1D9A4-8A8C-2991-8B73-C295FE979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8351" y="1064873"/>
            <a:ext cx="4968767" cy="49974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9F45750-7852-6A42-5980-FFBFE9C7A469}"/>
              </a:ext>
            </a:extLst>
          </p:cNvPr>
          <p:cNvSpPr txBox="1"/>
          <p:nvPr/>
        </p:nvSpPr>
        <p:spPr>
          <a:xfrm>
            <a:off x="268589" y="2229091"/>
            <a:ext cx="243397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/>
              <a:t>185 </a:t>
            </a:r>
            <a:r>
              <a:rPr lang="es-ES" b="1" dirty="0" err="1"/>
              <a:t>rows</a:t>
            </a:r>
            <a:r>
              <a:rPr lang="es-ES" b="1" dirty="0"/>
              <a:t> x 20 </a:t>
            </a:r>
            <a:r>
              <a:rPr lang="es-ES" b="1" dirty="0" err="1"/>
              <a:t>columns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25F287-7768-59B0-D894-5F1FDF02BFD1}"/>
              </a:ext>
            </a:extLst>
          </p:cNvPr>
          <p:cNvSpPr txBox="1"/>
          <p:nvPr/>
        </p:nvSpPr>
        <p:spPr>
          <a:xfrm>
            <a:off x="268589" y="2598423"/>
            <a:ext cx="337885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 err="1"/>
              <a:t>Few</a:t>
            </a:r>
            <a:r>
              <a:rPr lang="es-ES" dirty="0"/>
              <a:t> </a:t>
            </a:r>
            <a:r>
              <a:rPr lang="es-ES" dirty="0" err="1"/>
              <a:t>samples</a:t>
            </a:r>
            <a:r>
              <a:rPr lang="es-ES" dirty="0"/>
              <a:t> &amp; </a:t>
            </a:r>
            <a:r>
              <a:rPr lang="es-ES" dirty="0" err="1"/>
              <a:t>many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6CF6FC70-1A12-7C8A-322E-995FC36C468A}"/>
              </a:ext>
            </a:extLst>
          </p:cNvPr>
          <p:cNvSpPr/>
          <p:nvPr/>
        </p:nvSpPr>
        <p:spPr>
          <a:xfrm>
            <a:off x="1589780" y="3101946"/>
            <a:ext cx="538480" cy="675812"/>
          </a:xfrm>
          <a:prstGeom prst="downArrow">
            <a:avLst/>
          </a:prstGeom>
          <a:solidFill>
            <a:srgbClr val="E4AF1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545CC9-D714-DA14-7050-94B7DE0D6A25}"/>
              </a:ext>
            </a:extLst>
          </p:cNvPr>
          <p:cNvSpPr txBox="1"/>
          <p:nvPr/>
        </p:nvSpPr>
        <p:spPr>
          <a:xfrm>
            <a:off x="324209" y="3911949"/>
            <a:ext cx="401411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Rare ML models in the state-of-the-art such as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will be applied in this case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05739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FCF8-3F91-4E37-2FBA-BD4FB41F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royecto Jupyter - Wikipedia, la enciclopedia libre">
            <a:extLst>
              <a:ext uri="{FF2B5EF4-FFF2-40B4-BE49-F238E27FC236}">
                <a16:creationId xmlns:a16="http://schemas.microsoft.com/office/drawing/2014/main" id="{E2EB6399-368A-B62F-8D10-378DC983D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24" y="2795100"/>
            <a:ext cx="445970" cy="51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A695184-472E-CBA0-5ACD-6AE7AAB76723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IA Model implementation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Methodology| OS Python 3.13.0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BF1408E-C7FA-79F1-EC64-6A22F6F1F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151" y="2953969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545BEC8-060C-7730-1051-D80731B4B4CE}"/>
              </a:ext>
            </a:extLst>
          </p:cNvPr>
          <p:cNvSpPr/>
          <p:nvPr/>
        </p:nvSpPr>
        <p:spPr>
          <a:xfrm>
            <a:off x="1439717" y="3373276"/>
            <a:ext cx="1768306" cy="385921"/>
          </a:xfrm>
          <a:prstGeom prst="roundRect">
            <a:avLst/>
          </a:prstGeom>
          <a:solidFill>
            <a:srgbClr val="3499C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XGBOOST regresor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33551BA-37DC-E124-3BED-68D8B57066D7}"/>
              </a:ext>
            </a:extLst>
          </p:cNvPr>
          <p:cNvSpPr/>
          <p:nvPr/>
        </p:nvSpPr>
        <p:spPr>
          <a:xfrm>
            <a:off x="6801434" y="2983339"/>
            <a:ext cx="1500229" cy="658336"/>
          </a:xfrm>
          <a:prstGeom prst="roundRect">
            <a:avLst/>
          </a:prstGeom>
          <a:solidFill>
            <a:srgbClr val="F8993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R2 and RMSE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Metrics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11CBB73-A789-0AF8-197B-5DC0048C4806}"/>
              </a:ext>
            </a:extLst>
          </p:cNvPr>
          <p:cNvSpPr/>
          <p:nvPr/>
        </p:nvSpPr>
        <p:spPr>
          <a:xfrm>
            <a:off x="4132298" y="2849393"/>
            <a:ext cx="1933835" cy="930751"/>
          </a:xfrm>
          <a:prstGeom prst="roundRect">
            <a:avLst/>
          </a:prstGeom>
          <a:solidFill>
            <a:srgbClr val="FFE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Bayesian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/</a:t>
            </a:r>
            <a:r>
              <a:rPr lang="es-ES" sz="1600" dirty="0" err="1"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sym typeface="Gill Sans"/>
              </a:rPr>
              <a:t>G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rid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searh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Hyperparameter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Optimization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1E1E1C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0E197A4-93D4-ED1E-9E31-834D5FE39A67}"/>
              </a:ext>
            </a:extLst>
          </p:cNvPr>
          <p:cNvSpPr/>
          <p:nvPr/>
        </p:nvSpPr>
        <p:spPr>
          <a:xfrm>
            <a:off x="6667397" y="4606748"/>
            <a:ext cx="1768304" cy="38592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Validation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9FB12DD-3AF4-DF47-C7E2-A8C07A7A8C1F}"/>
              </a:ext>
            </a:extLst>
          </p:cNvPr>
          <p:cNvSpPr/>
          <p:nvPr/>
        </p:nvSpPr>
        <p:spPr>
          <a:xfrm>
            <a:off x="4123262" y="4610399"/>
            <a:ext cx="1500229" cy="385921"/>
          </a:xfrm>
          <a:prstGeom prst="roundRect">
            <a:avLst/>
          </a:prstGeom>
          <a:solidFill>
            <a:srgbClr val="F8993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Cross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Validation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2E19C17-D7B7-87EB-EFA1-62DCA92B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198" y="4221224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1BE2ABD-16CA-F7E1-5191-823AD83AE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027" y="2575414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BD537AB5-008B-5ED7-CD87-AF3C6F028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5" y="2393216"/>
            <a:ext cx="503785" cy="44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0">
            <a:extLst>
              <a:ext uri="{FF2B5EF4-FFF2-40B4-BE49-F238E27FC236}">
                <a16:creationId xmlns:a16="http://schemas.microsoft.com/office/drawing/2014/main" id="{8290D3AB-CDDE-1050-7658-9CCB0BBD7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934" y="5008361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4">
            <a:extLst>
              <a:ext uri="{FF2B5EF4-FFF2-40B4-BE49-F238E27FC236}">
                <a16:creationId xmlns:a16="http://schemas.microsoft.com/office/drawing/2014/main" id="{9BF7EC19-7AE2-3A80-E0A4-0272F34A9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787" y="5010014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13DC1959-469E-168C-5956-49E89187A470}"/>
              </a:ext>
            </a:extLst>
          </p:cNvPr>
          <p:cNvSpPr/>
          <p:nvPr/>
        </p:nvSpPr>
        <p:spPr>
          <a:xfrm>
            <a:off x="667720" y="2754507"/>
            <a:ext cx="2991094" cy="11160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8A8DEED-F7B5-6604-828E-FC65BE77EF25}"/>
              </a:ext>
            </a:extLst>
          </p:cNvPr>
          <p:cNvSpPr txBox="1"/>
          <p:nvPr/>
        </p:nvSpPr>
        <p:spPr>
          <a:xfrm>
            <a:off x="1123270" y="2739980"/>
            <a:ext cx="207331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Jupyter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 notebook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1200" dirty="0">
                <a:solidFill>
                  <a:srgbClr val="000000"/>
                </a:solidFill>
                <a:sym typeface="Gill Sans"/>
              </a:rPr>
              <a:t>framework</a:t>
            </a:r>
            <a:endParaRPr kumimoji="0" lang="es-E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7EA84DC-EA2F-30EC-B8DD-35DAFD91003B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3658814" y="3312507"/>
            <a:ext cx="473484" cy="226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3D359DF-169B-ACD2-07CA-797287754C7B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6066133" y="3312507"/>
            <a:ext cx="735301" cy="226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2E387C5-B58F-129E-24DE-354421FE7BCE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flipV="1">
            <a:off x="7551549" y="3641675"/>
            <a:ext cx="0" cy="96507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9A37C1BD-279F-4F16-EF52-DCAADE129FBE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>
          <a:xfrm flipH="1">
            <a:off x="4873377" y="3312507"/>
            <a:ext cx="3428286" cy="1683813"/>
          </a:xfrm>
          <a:prstGeom prst="bentConnector4">
            <a:avLst>
              <a:gd name="adj1" fmla="val -18140"/>
              <a:gd name="adj2" fmla="val 14978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2463E856-7B18-611F-484C-E205BA2A54AF}"/>
              </a:ext>
            </a:extLst>
          </p:cNvPr>
          <p:cNvSpPr/>
          <p:nvPr/>
        </p:nvSpPr>
        <p:spPr>
          <a:xfrm>
            <a:off x="1279289" y="4610720"/>
            <a:ext cx="1768304" cy="38592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training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37" name="Picture 20">
            <a:extLst>
              <a:ext uri="{FF2B5EF4-FFF2-40B4-BE49-F238E27FC236}">
                <a16:creationId xmlns:a16="http://schemas.microsoft.com/office/drawing/2014/main" id="{23D65F28-4586-0D03-32E9-8B32B731C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26" y="5012333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4">
            <a:extLst>
              <a:ext uri="{FF2B5EF4-FFF2-40B4-BE49-F238E27FC236}">
                <a16:creationId xmlns:a16="http://schemas.microsoft.com/office/drawing/2014/main" id="{66F08C90-C43D-36F7-707A-AE31F606D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79" y="5013986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E342B8D-DEF1-3340-3794-02C0D239147C}"/>
              </a:ext>
            </a:extLst>
          </p:cNvPr>
          <p:cNvCxnSpPr>
            <a:cxnSpLocks/>
            <a:stCxn id="36" idx="0"/>
            <a:endCxn id="19" idx="2"/>
          </p:cNvCxnSpPr>
          <p:nvPr/>
        </p:nvCxnSpPr>
        <p:spPr>
          <a:xfrm flipH="1" flipV="1">
            <a:off x="2163267" y="3870507"/>
            <a:ext cx="174" cy="7402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5D26A3F-E11F-93CE-3E85-A1707C839C78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5623491" y="4799709"/>
            <a:ext cx="1043906" cy="365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131C32E-7F7F-1A6F-8B79-4110E686F898}"/>
              </a:ext>
            </a:extLst>
          </p:cNvPr>
          <p:cNvCxnSpPr>
            <a:cxnSpLocks/>
            <a:stCxn id="14" idx="1"/>
            <a:endCxn id="36" idx="3"/>
          </p:cNvCxnSpPr>
          <p:nvPr/>
        </p:nvCxnSpPr>
        <p:spPr>
          <a:xfrm flipH="1">
            <a:off x="3047593" y="4803360"/>
            <a:ext cx="1075669" cy="32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B2E1795-79E6-3181-0432-AD887AD1D684}"/>
              </a:ext>
            </a:extLst>
          </p:cNvPr>
          <p:cNvSpPr/>
          <p:nvPr/>
        </p:nvSpPr>
        <p:spPr>
          <a:xfrm>
            <a:off x="3855187" y="6033523"/>
            <a:ext cx="1768304" cy="385921"/>
          </a:xfrm>
          <a:prstGeom prst="roundRect">
            <a:avLst/>
          </a:prstGeom>
          <a:solidFill>
            <a:srgbClr val="2C27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Curated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full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789DD7CC-00B6-B132-4682-7C123E64A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724" y="6435136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>
            <a:extLst>
              <a:ext uri="{FF2B5EF4-FFF2-40B4-BE49-F238E27FC236}">
                <a16:creationId xmlns:a16="http://schemas.microsoft.com/office/drawing/2014/main" id="{1AA3084E-5699-FD5A-0B60-7CBC0D88E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577" y="6436789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EF9D5F96-B015-6CBC-15CD-12C73BCFD2E1}"/>
              </a:ext>
            </a:extLst>
          </p:cNvPr>
          <p:cNvCxnSpPr>
            <a:cxnSpLocks/>
            <a:stCxn id="3" idx="1"/>
            <a:endCxn id="36" idx="2"/>
          </p:cNvCxnSpPr>
          <p:nvPr/>
        </p:nvCxnSpPr>
        <p:spPr>
          <a:xfrm rot="10800000">
            <a:off x="2163441" y="4996642"/>
            <a:ext cx="1691746" cy="122984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38CD61DC-E5FF-A44B-03A0-B97B3ED09DB9}"/>
              </a:ext>
            </a:extLst>
          </p:cNvPr>
          <p:cNvCxnSpPr>
            <a:cxnSpLocks/>
            <a:stCxn id="3" idx="3"/>
            <a:endCxn id="13" idx="2"/>
          </p:cNvCxnSpPr>
          <p:nvPr/>
        </p:nvCxnSpPr>
        <p:spPr>
          <a:xfrm flipV="1">
            <a:off x="5623491" y="4992669"/>
            <a:ext cx="1928058" cy="1233815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961431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47D2-8C59-9412-76D7-0701D693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5AA4B39-9BDB-FC8C-5FF8-C0569FCA0E85}"/>
              </a:ext>
            </a:extLst>
          </p:cNvPr>
          <p:cNvSpPr txBox="1"/>
          <p:nvPr/>
        </p:nvSpPr>
        <p:spPr>
          <a:xfrm>
            <a:off x="2068285" y="3039149"/>
            <a:ext cx="5769429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422440105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865D-69B7-7C58-B8A0-90FD763F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CB34C8-8091-BBCE-D928-F0A5BF698B3E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Results &amp; discussion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Accuracy results with XGBOOST model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1DB8CB8-B713-4705-4271-1814CFDB5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16745"/>
              </p:ext>
            </p:extLst>
          </p:nvPr>
        </p:nvGraphicFramePr>
        <p:xfrm>
          <a:off x="337458" y="2130211"/>
          <a:ext cx="3733500" cy="241243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244500">
                  <a:extLst>
                    <a:ext uri="{9D8B030D-6E8A-4147-A177-3AD203B41FA5}">
                      <a16:colId xmlns:a16="http://schemas.microsoft.com/office/drawing/2014/main" val="1021015740"/>
                    </a:ext>
                  </a:extLst>
                </a:gridCol>
                <a:gridCol w="1244500">
                  <a:extLst>
                    <a:ext uri="{9D8B030D-6E8A-4147-A177-3AD203B41FA5}">
                      <a16:colId xmlns:a16="http://schemas.microsoft.com/office/drawing/2014/main" val="3011419663"/>
                    </a:ext>
                  </a:extLst>
                </a:gridCol>
                <a:gridCol w="1244500">
                  <a:extLst>
                    <a:ext uri="{9D8B030D-6E8A-4147-A177-3AD203B41FA5}">
                      <a16:colId xmlns:a16="http://schemas.microsoft.com/office/drawing/2014/main" val="952937297"/>
                    </a:ext>
                  </a:extLst>
                </a:gridCol>
              </a:tblGrid>
              <a:tr h="512773">
                <a:tc rowSpan="2">
                  <a:txBody>
                    <a:bodyPr/>
                    <a:lstStyle/>
                    <a:p>
                      <a:r>
                        <a:rPr lang="es-ES" sz="1400" dirty="0" err="1"/>
                        <a:t>Metrics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s-ES" sz="1400" dirty="0" err="1"/>
                        <a:t>Hyperparameter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optimization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method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305587"/>
                  </a:ext>
                </a:extLst>
              </a:tr>
              <a:tr h="51405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Exhaustive</a:t>
                      </a:r>
                    </a:p>
                    <a:p>
                      <a:r>
                        <a:rPr lang="es-ES" sz="1400" dirty="0" err="1"/>
                        <a:t>Grid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seach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Bayesian</a:t>
                      </a:r>
                    </a:p>
                    <a:p>
                      <a:r>
                        <a:rPr lang="en-US" sz="1400" dirty="0"/>
                        <a:t>optimization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44390"/>
                  </a:ext>
                </a:extLst>
              </a:tr>
              <a:tr h="514051">
                <a:tc>
                  <a:txBody>
                    <a:bodyPr/>
                    <a:lstStyle/>
                    <a:p>
                      <a:r>
                        <a:rPr lang="es-ES" sz="1400" dirty="0"/>
                        <a:t>RMSE </a:t>
                      </a:r>
                    </a:p>
                    <a:p>
                      <a:r>
                        <a:rPr lang="es-ES" sz="1400" i="1" dirty="0" err="1"/>
                        <a:t>cross</a:t>
                      </a:r>
                      <a:r>
                        <a:rPr lang="es-ES" sz="1400" i="1" dirty="0"/>
                        <a:t>-val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6.12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4.13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47956"/>
                  </a:ext>
                </a:extLst>
              </a:tr>
              <a:tr h="514051">
                <a:tc>
                  <a:txBody>
                    <a:bodyPr/>
                    <a:lstStyle/>
                    <a:p>
                      <a:pPr marL="0" marR="0" lvl="0" indent="0" algn="ctr" defTabSz="43032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RMSE </a:t>
                      </a:r>
                    </a:p>
                    <a:p>
                      <a:pPr marL="0" marR="0" lvl="0" indent="0" algn="ctr" defTabSz="43032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1" dirty="0" err="1"/>
                        <a:t>entire</a:t>
                      </a:r>
                      <a:r>
                        <a:rPr lang="es-ES" sz="1400" i="1" dirty="0"/>
                        <a:t> </a:t>
                      </a:r>
                      <a:r>
                        <a:rPr lang="es-ES" sz="1400" i="1" dirty="0" err="1"/>
                        <a:t>dataset</a:t>
                      </a:r>
                      <a:endParaRPr lang="es-ES" sz="1400" i="1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8.02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9.10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911967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400" dirty="0"/>
                        <a:t>R</a:t>
                      </a:r>
                      <a:r>
                        <a:rPr lang="es-ES" sz="1400" baseline="30000" dirty="0"/>
                        <a:t>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0.96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0.98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43886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A48BF6FB-3553-BE43-9E47-B0BD35FBC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4" y="1647043"/>
            <a:ext cx="4995941" cy="321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6AC716E-7FF7-4601-95FA-A032197BB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27" y="4815902"/>
            <a:ext cx="3191945" cy="20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9C4B7D2-64E8-4BD0-3F01-7B7A1286145D}"/>
              </a:ext>
            </a:extLst>
          </p:cNvPr>
          <p:cNvSpPr/>
          <p:nvPr/>
        </p:nvSpPr>
        <p:spPr>
          <a:xfrm>
            <a:off x="1917290" y="3293888"/>
            <a:ext cx="580104" cy="1224000"/>
          </a:xfrm>
          <a:prstGeom prst="round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49556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398F-52A2-AED6-C2D5-9C54A10D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A3C6C98-9451-E7BE-22B2-A6363CD9E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78" y="2025353"/>
            <a:ext cx="7116384" cy="431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012BDB2-824E-079A-7954-F46235C7F803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Results &amp; discussion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Model features importance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4F382E-8828-84B1-A991-93293732294C}"/>
              </a:ext>
            </a:extLst>
          </p:cNvPr>
          <p:cNvSpPr txBox="1"/>
          <p:nvPr/>
        </p:nvSpPr>
        <p:spPr>
          <a:xfrm>
            <a:off x="69273" y="2153676"/>
            <a:ext cx="20771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Consistent with </a:t>
            </a:r>
            <a:r>
              <a:rPr lang="en-US" dirty="0" err="1">
                <a:solidFill>
                  <a:srgbClr val="3274A1"/>
                </a:solidFill>
              </a:rPr>
              <a:t>EoA</a:t>
            </a:r>
            <a:endParaRPr lang="en-US" dirty="0">
              <a:solidFill>
                <a:srgbClr val="3274A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13E342-FF3B-5C58-4939-449B2ABA3917}"/>
              </a:ext>
            </a:extLst>
          </p:cNvPr>
          <p:cNvSpPr txBox="1"/>
          <p:nvPr/>
        </p:nvSpPr>
        <p:spPr>
          <a:xfrm>
            <a:off x="520521" y="2891824"/>
            <a:ext cx="156755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Cooling effects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62ECC001-25E6-E63C-6DBD-77F4D7D1304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88078" y="3076490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4953333-094F-596E-CCB5-B18F966D50E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6396" y="2338342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8B2CB2A-B2D1-9E70-394A-AF0F42A8A97A}"/>
              </a:ext>
            </a:extLst>
          </p:cNvPr>
          <p:cNvCxnSpPr/>
          <p:nvPr/>
        </p:nvCxnSpPr>
        <p:spPr>
          <a:xfrm>
            <a:off x="2146396" y="3076041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1C90C799-7D37-7229-09A1-36A8CA9D0AE3}"/>
              </a:ext>
            </a:extLst>
          </p:cNvPr>
          <p:cNvCxnSpPr>
            <a:cxnSpLocks/>
          </p:cNvCxnSpPr>
          <p:nvPr/>
        </p:nvCxnSpPr>
        <p:spPr>
          <a:xfrm>
            <a:off x="2088078" y="2706709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80661C3-9490-A8FB-4005-F638E41C5AD4}"/>
              </a:ext>
            </a:extLst>
          </p:cNvPr>
          <p:cNvCxnSpPr/>
          <p:nvPr/>
        </p:nvCxnSpPr>
        <p:spPr>
          <a:xfrm>
            <a:off x="2146396" y="2706709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26B90DC-A2D8-1E9F-DCCE-83A8D7A325EE}"/>
              </a:ext>
            </a:extLst>
          </p:cNvPr>
          <p:cNvSpPr txBox="1"/>
          <p:nvPr/>
        </p:nvSpPr>
        <p:spPr>
          <a:xfrm>
            <a:off x="244199" y="2520116"/>
            <a:ext cx="200065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Weather Volatility</a:t>
            </a: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9A929B26-C4E8-DCAD-51F0-5DB4F0A9E6AC}"/>
              </a:ext>
            </a:extLst>
          </p:cNvPr>
          <p:cNvCxnSpPr>
            <a:cxnSpLocks/>
          </p:cNvCxnSpPr>
          <p:nvPr/>
        </p:nvCxnSpPr>
        <p:spPr>
          <a:xfrm>
            <a:off x="2088077" y="2336415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2961789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heme CTC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artado xmlns="79DF4702-E532-4CE8-8C12-D777A4B3FBB6" xsi:nil="true"/>
    <Tarea xmlns="79DF4702-E532-4CE8-8C12-D777A4B3FBB6" xsi:nil="true"/>
    <TaxCatchAll xmlns="4079232c-cf42-49ce-9df8-7930cbf3626f" xsi:nil="true"/>
    <lcf76f155ced4ddcb4097134ff3c332f xmlns="12dd8f8e-5266-45fd-bc2d-9541f719c6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57F83F6446249B5176A8A035F675F" ma:contentTypeVersion="" ma:contentTypeDescription="Crear nuevo documento." ma:contentTypeScope="" ma:versionID="09a0d349b56a257b82d9fa1d97dec0fc">
  <xsd:schema xmlns:xsd="http://www.w3.org/2001/XMLSchema" xmlns:xs="http://www.w3.org/2001/XMLSchema" xmlns:p="http://schemas.microsoft.com/office/2006/metadata/properties" xmlns:ns2="79DF4702-E532-4CE8-8C12-D777A4B3FBB6" xmlns:ns3="12dd8f8e-5266-45fd-bc2d-9541f719c60c" xmlns:ns4="103eaf57-37d6-4596-bc6f-ddb6d16a1f98" xmlns:ns5="4079232c-cf42-49ce-9df8-7930cbf3626f" targetNamespace="http://schemas.microsoft.com/office/2006/metadata/properties" ma:root="true" ma:fieldsID="25b99cb6a45f42f2ee63e440068c10cf" ns2:_="" ns3:_="" ns4:_="" ns5:_="">
    <xsd:import namespace="79DF4702-E532-4CE8-8C12-D777A4B3FBB6"/>
    <xsd:import namespace="12dd8f8e-5266-45fd-bc2d-9541f719c60c"/>
    <xsd:import namespace="103eaf57-37d6-4596-bc6f-ddb6d16a1f98"/>
    <xsd:import namespace="4079232c-cf42-49ce-9df8-7930cbf3626f"/>
    <xsd:element name="properties">
      <xsd:complexType>
        <xsd:sequence>
          <xsd:element name="documentManagement">
            <xsd:complexType>
              <xsd:all>
                <xsd:element ref="ns2:Apartado" minOccurs="0"/>
                <xsd:element ref="ns2:Tarea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5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F4702-E532-4CE8-8C12-D777A4B3FBB6" elementFormDefault="qualified">
    <xsd:import namespace="http://schemas.microsoft.com/office/2006/documentManagement/types"/>
    <xsd:import namespace="http://schemas.microsoft.com/office/infopath/2007/PartnerControls"/>
    <xsd:element name="Apartado" ma:index="8" nillable="true" ma:displayName="Apartado" ma:format="Dropdown" ma:internalName="Apartado">
      <xsd:simpleType>
        <xsd:restriction base="dms:Choice">
          <xsd:enumeration value="Acta de reunión"/>
          <xsd:enumeration value="Acta de Visita"/>
          <xsd:enumeration value="Albarán / Factura"/>
          <xsd:enumeration value="Artículos/Patentes"/>
          <xsd:enumeration value="Contrato / Pedido"/>
          <xsd:enumeration value="Correo / Fax"/>
          <xsd:enumeration value="Cuestionario de Satisfacción"/>
          <xsd:enumeration value="Documentos Técnicos"/>
          <xsd:enumeration value="Especificación"/>
          <xsd:enumeration value="Fotografía / Imagen"/>
          <xsd:enumeration value="Informe"/>
          <xsd:enumeration value="Informe de Cierre"/>
          <xsd:enumeration value="Legislación o Norma"/>
          <xsd:enumeration value="Memoria / Solicitud"/>
          <xsd:enumeration value="Modelo / Plano"/>
          <xsd:enumeration value="Oferta / Análisis Previo"/>
          <xsd:enumeration value="Otros"/>
          <xsd:enumeration value="Partes de Trabajo"/>
          <xsd:enumeration value="Planning / Presupuesto"/>
          <xsd:enumeration value="Presentaciones"/>
        </xsd:restriction>
      </xsd:simpleType>
    </xsd:element>
    <xsd:element name="Tarea" ma:index="9" nillable="true" ma:displayName="Tarea" ma:format="Dropdown" ma:internalName="Tarea">
      <xsd:simpleType>
        <xsd:restriction base="dms:Choice">
          <xsd:enumeration value="Planificación / Oferta"/>
          <xsd:enumeration value="ST2.3.1 Design of the blankets "/>
          <xsd:enumeration value="ST2.3.2 Design of the connections of the blankets"/>
          <xsd:enumeration value="ST2.3.3 Design of the optimal configuration of the mooring system"/>
          <xsd:enumeration value="T1.1 Project management and coordination "/>
          <xsd:enumeration value="T1.2 Quality assurance and risk management"/>
          <xsd:enumeration value="T1.3 After-LIFE plan"/>
          <xsd:enumeration value="T2.2 Floating modules enhanced design"/>
          <xsd:enumeration value="T2.4 Development of the monitoring solution "/>
          <xsd:enumeration value="T3.2 Demonstration at the Spanish Site"/>
          <xsd:enumeration value="T3.3 Demonstration at the Portuguese site"/>
          <xsd:enumeration value="T3.4 Monitoring of the impact of the project: key performance indicatoris (KPI)"/>
          <xsd:enumeration value="T4.1 Sustainability assessment: LCA &amp;amp; LCC"/>
          <xsd:enumeration value="T4.2 Exploitation and business plan "/>
          <xsd:enumeration value="T4.3 Transferability and replicability "/>
          <xsd:enumeration value="T4.4 Development of guidelines for the implementation and management of the innovative solutions for AWR in Europe"/>
          <xsd:enumeration value="T5.1 Communication and dissemination plan"/>
          <xsd:enumeration value="T5.2 Dissemination materials"/>
          <xsd:enumeration value="T5.3 Dissemination activiti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dd8f8e-5266-45fd-bc2d-9541f719c6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7c598441-7406-4f99-a75b-128c15f3d8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eaf57-37d6-4596-bc6f-ddb6d16a1f9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9232c-cf42-49ce-9df8-7930cbf3626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7f48934-b4a3-4df3-944c-cae5c4ec33f9}" ma:internalName="TaxCatchAll" ma:showField="CatchAllData" ma:web="4079232c-cf42-49ce-9df8-7930cbf362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981977-6FD7-466F-9009-44ABEA0AED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BE8805-1424-4C32-BA8E-A57095024F94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9DF4702-E532-4CE8-8C12-D777A4B3FBB6"/>
    <ds:schemaRef ds:uri="http://purl.org/dc/dcmitype/"/>
    <ds:schemaRef ds:uri="12dd8f8e-5266-45fd-bc2d-9541f719c60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4079232c-cf42-49ce-9df8-7930cbf3626f"/>
    <ds:schemaRef ds:uri="103eaf57-37d6-4596-bc6f-ddb6d16a1f9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A8080CF-0837-4151-A3F7-0F40FED3C7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DF4702-E532-4CE8-8C12-D777A4B3FBB6"/>
    <ds:schemaRef ds:uri="12dd8f8e-5266-45fd-bc2d-9541f719c60c"/>
    <ds:schemaRef ds:uri="103eaf57-37d6-4596-bc6f-ddb6d16a1f98"/>
    <ds:schemaRef ds:uri="4079232c-cf42-49ce-9df8-7930cbf362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3050</TotalTime>
  <Words>1836</Words>
  <Application>Microsoft Office PowerPoint</Application>
  <PresentationFormat>A4 (210 x 297 mm)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Gill Sans</vt:lpstr>
      <vt:lpstr>Wingdings</vt:lpstr>
      <vt:lpstr>Theme CTC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Alejandro Pérez Nuñez</cp:lastModifiedBy>
  <cp:revision>27</cp:revision>
  <cp:lastPrinted>2024-10-21T13:29:25Z</cp:lastPrinted>
  <dcterms:created xsi:type="dcterms:W3CDTF">2018-10-19T07:59:56Z</dcterms:created>
  <dcterms:modified xsi:type="dcterms:W3CDTF">2025-10-24T10:51:26Z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0x010100F300F39E9ED3D44BAE06110BE097CE6E</vt:lpwstr>
  </property>
  <property fmtid="{D5CDD505-2E9C-101B-9397-08002B2CF9AE}" pid="3" name="MediaServiceImageTags">
    <vt:lpwstr/>
  </property>
</Properties>
</file>